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4" r:id="rId1"/>
  </p:sldMasterIdLst>
  <p:sldIdLst>
    <p:sldId id="257" r:id="rId2"/>
    <p:sldId id="258" r:id="rId3"/>
    <p:sldId id="259" r:id="rId4"/>
    <p:sldId id="260" r:id="rId5"/>
    <p:sldId id="261" r:id="rId6"/>
    <p:sldId id="266" r:id="rId7"/>
    <p:sldId id="267" r:id="rId8"/>
    <p:sldId id="265" r:id="rId9"/>
    <p:sldId id="268" r:id="rId10"/>
    <p:sldId id="269" r:id="rId11"/>
    <p:sldId id="270" r:id="rId12"/>
    <p:sldId id="271" r:id="rId13"/>
    <p:sldId id="272" r:id="rId14"/>
    <p:sldId id="273" r:id="rId15"/>
    <p:sldId id="274" r:id="rId16"/>
    <p:sldId id="275" r:id="rId17"/>
    <p:sldId id="277" r:id="rId18"/>
    <p:sldId id="278" r:id="rId19"/>
    <p:sldId id="279" r:id="rId20"/>
    <p:sldId id="280" r:id="rId21"/>
    <p:sldId id="281" r:id="rId22"/>
    <p:sldId id="282" r:id="rId23"/>
    <p:sldId id="286" r:id="rId24"/>
    <p:sldId id="287" r:id="rId25"/>
    <p:sldId id="288" r:id="rId26"/>
    <p:sldId id="289" r:id="rId27"/>
    <p:sldId id="284" r:id="rId28"/>
    <p:sldId id="285" r:id="rId29"/>
    <p:sldId id="290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1409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22284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10823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885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205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35965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442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4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155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0360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847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105CCD-AC57-49D3-9AF7-99D4ACB8CACC}" type="datetimeFigureOut">
              <a:rPr lang="en-US" smtClean="0"/>
              <a:t>6/9/2026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AA8D8CE5-C3C4-4A0A-8B2B-6CF6B1271B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3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32BAB7-EEF1-1833-8640-B1104F24B2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IN" sz="4400" dirty="0">
                <a:effectLst/>
                <a:latin typeface="+mn-lt"/>
                <a:ea typeface="Arial" panose="020B0604020202020204" pitchFamily="34" charset="0"/>
              </a:rPr>
              <a:t>E-Commerce Order, </a:t>
            </a:r>
            <a:br>
              <a:rPr lang="en-IN" sz="4400" dirty="0">
                <a:effectLst/>
                <a:latin typeface="+mn-lt"/>
                <a:ea typeface="Arial" panose="020B0604020202020204" pitchFamily="34" charset="0"/>
              </a:rPr>
            </a:br>
            <a:r>
              <a:rPr lang="en-IN" sz="4400" dirty="0">
                <a:effectLst/>
                <a:latin typeface="+mn-lt"/>
                <a:ea typeface="Arial" panose="020B0604020202020204" pitchFamily="34" charset="0"/>
              </a:rPr>
              <a:t>Delivery &amp; Customer</a:t>
            </a:r>
            <a:br>
              <a:rPr lang="en-US" sz="4400" dirty="0">
                <a:effectLst/>
                <a:latin typeface="+mn-lt"/>
                <a:ea typeface="Arial" panose="020B0604020202020204" pitchFamily="34" charset="0"/>
              </a:rPr>
            </a:br>
            <a:r>
              <a:rPr lang="en-IN" sz="4400" dirty="0">
                <a:effectLst/>
                <a:latin typeface="+mn-lt"/>
                <a:ea typeface="Arial" panose="020B0604020202020204" pitchFamily="34" charset="0"/>
              </a:rPr>
              <a:t> Performance Analysis- Capstone Project</a:t>
            </a:r>
            <a:endParaRPr lang="en-US" sz="4400" dirty="0">
              <a:latin typeface="+mn-lt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E90D531-D780-3677-6DAA-D94C7CFD133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Project Created By: </a:t>
            </a:r>
            <a:r>
              <a:rPr lang="en-US" sz="2100" b="1" dirty="0">
                <a:solidFill>
                  <a:srgbClr val="1F252D"/>
                </a:solidFill>
                <a:latin typeface="Wanted Sans Variable"/>
              </a:rPr>
              <a:t>Karthik N</a:t>
            </a:r>
          </a:p>
          <a:p>
            <a:r>
              <a:rPr lang="en-US" dirty="0"/>
              <a:t>Created Date: </a:t>
            </a:r>
            <a:r>
              <a:rPr lang="en-US" sz="2100" b="1" dirty="0">
                <a:solidFill>
                  <a:srgbClr val="1F252D"/>
                </a:solidFill>
                <a:latin typeface="Wanted Sans Variable"/>
              </a:rPr>
              <a:t>June 4th, 2026</a:t>
            </a:r>
          </a:p>
          <a:p>
            <a:r>
              <a:rPr lang="en-US" sz="2100" dirty="0"/>
              <a:t>Project Batch</a:t>
            </a:r>
            <a:r>
              <a:rPr lang="en-US" dirty="0">
                <a:solidFill>
                  <a:srgbClr val="1F252D"/>
                </a:solidFill>
                <a:latin typeface="Wanted Sans Variable"/>
              </a:rPr>
              <a:t>: </a:t>
            </a:r>
            <a:r>
              <a:rPr lang="en-US" b="1" i="0" dirty="0">
                <a:solidFill>
                  <a:srgbClr val="1F252D"/>
                </a:solidFill>
                <a:effectLst/>
                <a:latin typeface="Wanted Sans Variable"/>
              </a:rPr>
              <a:t>BMAI-C-WD-E-B33</a:t>
            </a:r>
            <a:endParaRPr lang="en-US" b="1" dirty="0"/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21466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BD9B9-F6F0-24FE-2B40-458CF30ABB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2853D4-9FC3-EB51-05C8-EE55BCD441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800" dirty="0">
                <a:effectLst/>
                <a:ea typeface="Times New Roman" panose="02020603050405020304" pitchFamily="18" charset="0"/>
              </a:rPr>
              <a:t>To apply Business Analytics concepts and tools to analyse transactional data and identify operational inefficiencies, customer behaviour patterns, and performance gaps using </a:t>
            </a:r>
            <a:r>
              <a:rPr lang="en-US" sz="2800" b="1" dirty="0"/>
              <a:t>PostgreSQL, Excel, Data Warehousing, and Power BI</a:t>
            </a:r>
            <a:r>
              <a:rPr lang="en-US" sz="2800" dirty="0"/>
              <a:t>.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65709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585F4-980F-270B-1DC1-5E18F2F091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Dataset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BFAA8-F0B1-5C81-920A-9B3D99629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37115" y="1855304"/>
            <a:ext cx="3366052" cy="4094922"/>
          </a:xfrm>
        </p:spPr>
        <p:txBody>
          <a:bodyPr>
            <a:normAutofit fontScale="25000" lnSpcReduction="20000"/>
          </a:bodyPr>
          <a:lstStyle/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endParaRPr lang="en-US" sz="1600" b="1" dirty="0"/>
          </a:p>
          <a:p>
            <a:pPr marL="0" indent="0">
              <a:buNone/>
            </a:pPr>
            <a:r>
              <a:rPr lang="en-US" sz="6400" b="1" dirty="0"/>
              <a:t>Dataset Scope:			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99,441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99,441 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112,650 Order Items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103,886 Payment Records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99,224 Customer Reviews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32,951 Products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3,095 Sellers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6400" dirty="0"/>
              <a:t>738,332 Geolocation Records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6E6690-8F21-DC90-7FC4-CCE858D28750}"/>
              </a:ext>
            </a:extLst>
          </p:cNvPr>
          <p:cNvSpPr txBox="1"/>
          <p:nvPr/>
        </p:nvSpPr>
        <p:spPr>
          <a:xfrm>
            <a:off x="7328452" y="2810905"/>
            <a:ext cx="3366053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Data Domains Covered: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Orders &amp; Delivery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Products &amp; Categories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Sellers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Payments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Reviews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Geographic Information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5B3683-1D49-66AE-EF27-A95E202DB904}"/>
              </a:ext>
            </a:extLst>
          </p:cNvPr>
          <p:cNvSpPr txBox="1"/>
          <p:nvPr/>
        </p:nvSpPr>
        <p:spPr>
          <a:xfrm>
            <a:off x="3737115" y="781878"/>
            <a:ext cx="666584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b="1" dirty="0"/>
              <a:t>Dataset Overview</a:t>
            </a:r>
          </a:p>
          <a:p>
            <a:r>
              <a:rPr lang="en-US" sz="1800" dirty="0"/>
              <a:t>The project uses the </a:t>
            </a:r>
            <a:r>
              <a:rPr lang="en-US" sz="1800" b="1" dirty="0"/>
              <a:t>Olist Brazilian E-Commerce Dataset</a:t>
            </a:r>
            <a:r>
              <a:rPr lang="en-US" sz="1800" dirty="0"/>
              <a:t>, which contains transactional data from a large online marketplace operating across Brazil between </a:t>
            </a:r>
            <a:r>
              <a:rPr lang="en-US" sz="1800" b="1" dirty="0"/>
              <a:t>September 2016 and October 2018</a:t>
            </a:r>
            <a:r>
              <a:rPr lang="en-US" sz="18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383974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6C7F3-84C7-065C-B969-3464CD38F4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DA93B-36EE-3A2E-A998-8D7CB1616B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Business Problem Statement</a:t>
            </a:r>
          </a:p>
          <a:p>
            <a:r>
              <a:rPr lang="en-US" dirty="0"/>
              <a:t>E-commerce businesses generate large volumes of transactional data, but extracting actionable insights from this data remains a challenge.</a:t>
            </a:r>
          </a:p>
          <a:p>
            <a:r>
              <a:rPr lang="en-US" dirty="0"/>
              <a:t>The objective of this project is to design a </a:t>
            </a:r>
            <a:r>
              <a:rPr lang="en-US" b="1" dirty="0"/>
              <a:t>Data Warehouse and Business Intelligence solution</a:t>
            </a:r>
            <a:r>
              <a:rPr lang="en-US" dirty="0"/>
              <a:t> that enables stakeholders to: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Monitor order and delivery performance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Analyze customer satisfaction and retention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Evaluate product category performance and revenue contribution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Understand customer demand across regions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Identify operational inefficiencies and high-risk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Support data-driven decision making through interactive dashboards </a:t>
            </a:r>
          </a:p>
        </p:txBody>
      </p:sp>
    </p:spTree>
    <p:extLst>
      <p:ext uri="{BB962C8B-B14F-4D97-AF65-F5344CB8AC3E}">
        <p14:creationId xmlns:p14="http://schemas.microsoft.com/office/powerpoint/2010/main" val="36424006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28F44-5C45-923E-3D7C-42FA7564D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Cleaning &amp; Preparation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D5F40-8EE0-F54A-997B-DBDA1BC88CB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Raw Tables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Data Cleaning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Data Validation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Clean Tables</a:t>
            </a:r>
          </a:p>
          <a:p>
            <a:r>
              <a:rPr lang="en-US" dirty="0"/>
              <a:t>    ↓</a:t>
            </a:r>
          </a:p>
          <a:p>
            <a:r>
              <a:rPr lang="en-US" dirty="0"/>
              <a:t>Data Warehouse</a:t>
            </a: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03817133-7F5C-F7E1-202C-E6BDFCF3BC25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3588107" y="762160"/>
            <a:ext cx="4084903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Raw Data Ingestion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Imported 8 source datasets into PostgreSQL staging tables (raw_*)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Created separate clean tables (clean_*) for transformation and quality checks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Quality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Removed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268,000 duplicate records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from Geolocation dataset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Standardized data types: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Dates → Timestamp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Price &amp; Payment Values → Numeric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IDs → VARCHAR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Corrected inconsistent and blank product category values using translation mapping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Performed null value analysis and handled missing values based on business context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Data Validation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Verified row counts between raw and clean tables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Confirmed primary key uniqueness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Performed completeness and consistency checks before warehouse loading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637058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45FFE7-9FF8-F3C7-7C11-0676A5F29F92}"/>
              </a:ext>
            </a:extLst>
          </p:cNvPr>
          <p:cNvSpPr txBox="1"/>
          <p:nvPr/>
        </p:nvSpPr>
        <p:spPr>
          <a:xfrm>
            <a:off x="543340" y="265044"/>
            <a:ext cx="7209182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>
                    <a:lumMod val="95000"/>
                  </a:schemeClr>
                </a:solidFill>
                <a:latin typeface="+mj-lt"/>
              </a:rPr>
              <a:t>Data Quality &amp; Audit Results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517682-39A2-946E-5BA3-6D713B893B2C}"/>
              </a:ext>
            </a:extLst>
          </p:cNvPr>
          <p:cNvSpPr txBox="1"/>
          <p:nvPr/>
        </p:nvSpPr>
        <p:spPr>
          <a:xfrm>
            <a:off x="629478" y="1170445"/>
            <a:ext cx="3234428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Record Count Validation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9D94FE-3E2E-D013-61C5-6E0BDB0CA5D1}"/>
              </a:ext>
            </a:extLst>
          </p:cNvPr>
          <p:cNvSpPr txBox="1"/>
          <p:nvPr/>
        </p:nvSpPr>
        <p:spPr>
          <a:xfrm>
            <a:off x="8328096" y="1663198"/>
            <a:ext cx="402865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Primary Key Uniqueness Verified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Raw vs Clean Table Row Count Validation Completed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Data Type Conversion Validated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Product Category Translation Completed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Duplicate Geolocation Records Removed (268,000+)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/>
              <a:t> Foreign Key Relationships Verified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1779B6C-466B-469D-4F50-ACE9E3D9EC89}"/>
              </a:ext>
            </a:extLst>
          </p:cNvPr>
          <p:cNvSpPr txBox="1"/>
          <p:nvPr/>
        </p:nvSpPr>
        <p:spPr>
          <a:xfrm>
            <a:off x="8328096" y="1170445"/>
            <a:ext cx="314076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>
                    <a:lumMod val="95000"/>
                  </a:schemeClr>
                </a:solidFill>
              </a:rPr>
              <a:t>Quality Checks Completed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0C0515C-6DAC-C343-B5A1-253D508A474B}"/>
              </a:ext>
            </a:extLst>
          </p:cNvPr>
          <p:cNvSpPr txBox="1"/>
          <p:nvPr/>
        </p:nvSpPr>
        <p:spPr>
          <a:xfrm>
            <a:off x="4147931" y="1170445"/>
            <a:ext cx="371723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Null Value Assessment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9AC05D2-9822-F3BD-FE3E-26C914B42C35}"/>
              </a:ext>
            </a:extLst>
          </p:cNvPr>
          <p:cNvSpPr txBox="1"/>
          <p:nvPr/>
        </p:nvSpPr>
        <p:spPr>
          <a:xfrm>
            <a:off x="4015409" y="4911007"/>
            <a:ext cx="77657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All datasets successfully passed data quality checks and were approved for loading into the dimensional data warehouse and Power BI reporting layer.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4B6014-0A6A-2FA1-E882-42D613269892}"/>
              </a:ext>
            </a:extLst>
          </p:cNvPr>
          <p:cNvSpPr txBox="1"/>
          <p:nvPr/>
        </p:nvSpPr>
        <p:spPr>
          <a:xfrm>
            <a:off x="4147931" y="4473626"/>
            <a:ext cx="763325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Audit Conclusion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900FE2FE-E02A-4DB6-27C2-D939EE1E824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9141765"/>
              </p:ext>
            </p:extLst>
          </p:nvPr>
        </p:nvGraphicFramePr>
        <p:xfrm>
          <a:off x="4147931" y="1827724"/>
          <a:ext cx="3717238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8619">
                  <a:extLst>
                    <a:ext uri="{9D8B030D-6E8A-4147-A177-3AD203B41FA5}">
                      <a16:colId xmlns:a16="http://schemas.microsoft.com/office/drawing/2014/main" val="1576170701"/>
                    </a:ext>
                  </a:extLst>
                </a:gridCol>
                <a:gridCol w="1858619">
                  <a:extLst>
                    <a:ext uri="{9D8B030D-6E8A-4147-A177-3AD203B41FA5}">
                      <a16:colId xmlns:a16="http://schemas.microsoft.com/office/drawing/2014/main" val="1918711745"/>
                    </a:ext>
                  </a:extLst>
                </a:gridCol>
              </a:tblGrid>
              <a:tr h="331674">
                <a:tc>
                  <a:txBody>
                    <a:bodyPr/>
                    <a:lstStyle/>
                    <a:p>
                      <a:r>
                        <a:rPr lang="en-US" dirty="0"/>
                        <a:t>Column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Null 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8818968"/>
                  </a:ext>
                </a:extLst>
              </a:tr>
              <a:tr h="530322">
                <a:tc>
                  <a:txBody>
                    <a:bodyPr/>
                    <a:lstStyle/>
                    <a:p>
                      <a:r>
                        <a:rPr lang="en-US" dirty="0" err="1"/>
                        <a:t>order_approved_at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160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3475523"/>
                  </a:ext>
                </a:extLst>
              </a:tr>
              <a:tr h="530322">
                <a:tc>
                  <a:txBody>
                    <a:bodyPr/>
                    <a:lstStyle/>
                    <a:p>
                      <a:r>
                        <a:rPr lang="en-US" dirty="0" err="1"/>
                        <a:t>order_delivered_carrier_date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1,783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263266"/>
                  </a:ext>
                </a:extLst>
              </a:tr>
              <a:tr h="530322">
                <a:tc>
                  <a:txBody>
                    <a:bodyPr/>
                    <a:lstStyle/>
                    <a:p>
                      <a:r>
                        <a:rPr lang="en-US" dirty="0" err="1"/>
                        <a:t>order_delivered_customer_date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2,965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99523709"/>
                  </a:ext>
                </a:extLst>
              </a:tr>
            </a:tbl>
          </a:graphicData>
        </a:graphic>
      </p:graphicFrame>
      <p:graphicFrame>
        <p:nvGraphicFramePr>
          <p:cNvPr id="17" name="Table 17">
            <a:extLst>
              <a:ext uri="{FF2B5EF4-FFF2-40B4-BE49-F238E27FC236}">
                <a16:creationId xmlns:a16="http://schemas.microsoft.com/office/drawing/2014/main" id="{EFCCD1F6-5237-5431-9983-50230617D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95574067"/>
              </p:ext>
            </p:extLst>
          </p:nvPr>
        </p:nvGraphicFramePr>
        <p:xfrm>
          <a:off x="629478" y="1619167"/>
          <a:ext cx="3234428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7214">
                  <a:extLst>
                    <a:ext uri="{9D8B030D-6E8A-4147-A177-3AD203B41FA5}">
                      <a16:colId xmlns:a16="http://schemas.microsoft.com/office/drawing/2014/main" val="603464483"/>
                    </a:ext>
                  </a:extLst>
                </a:gridCol>
                <a:gridCol w="1617214">
                  <a:extLst>
                    <a:ext uri="{9D8B030D-6E8A-4147-A177-3AD203B41FA5}">
                      <a16:colId xmlns:a16="http://schemas.microsoft.com/office/drawing/2014/main" val="2544291302"/>
                    </a:ext>
                  </a:extLst>
                </a:gridCol>
              </a:tblGrid>
              <a:tr h="327476">
                <a:tc>
                  <a:txBody>
                    <a:bodyPr/>
                    <a:lstStyle/>
                    <a:p>
                      <a:r>
                        <a:rPr lang="en-US" dirty="0"/>
                        <a:t>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Records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363673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 dirty="0"/>
                        <a:t>Customers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99,441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86151406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 dirty="0"/>
                        <a:t>Orders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99,441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13487564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 dirty="0"/>
                        <a:t>Order Items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112,650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21675369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 dirty="0"/>
                        <a:t>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/>
                        <a:t>103,886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70713956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 dirty="0"/>
                        <a:t>Reviews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99,224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42228014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 dirty="0"/>
                        <a:t>Products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32,951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1117230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/>
                        <a:t>Sellers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3,095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8064749"/>
                  </a:ext>
                </a:extLst>
              </a:tr>
              <a:tr h="327476">
                <a:tc>
                  <a:txBody>
                    <a:bodyPr/>
                    <a:lstStyle/>
                    <a:p>
                      <a:r>
                        <a:rPr lang="en-US"/>
                        <a:t>Geolocation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738,332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541318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186113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id="{51503B1E-6CFE-76E0-8930-F1B5A2048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0348616"/>
              </p:ext>
            </p:extLst>
          </p:nvPr>
        </p:nvGraphicFramePr>
        <p:xfrm>
          <a:off x="253997" y="1382798"/>
          <a:ext cx="4064000" cy="333027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50777313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12389949"/>
                    </a:ext>
                  </a:extLst>
                </a:gridCol>
              </a:tblGrid>
              <a:tr h="283428">
                <a:tc>
                  <a:txBody>
                    <a:bodyPr/>
                    <a:lstStyle/>
                    <a:p>
                      <a:r>
                        <a:rPr lang="en-US" sz="1100" dirty="0"/>
                        <a:t>Fact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70001273"/>
                  </a:ext>
                </a:extLst>
              </a:tr>
              <a:tr h="921139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fact_orders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Order lifecycle, status, delivery performance, purchase dates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7750412"/>
                  </a:ext>
                </a:extLst>
              </a:tr>
              <a:tr h="708568">
                <a:tc>
                  <a:txBody>
                    <a:bodyPr/>
                    <a:lstStyle/>
                    <a:p>
                      <a:r>
                        <a:rPr lang="en-US" sz="1100" b="1"/>
                        <a:t>fact_order_items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Products sold, sellers, prices, freight charges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4156651"/>
                  </a:ext>
                </a:extLst>
              </a:tr>
              <a:tr h="708568">
                <a:tc>
                  <a:txBody>
                    <a:bodyPr/>
                    <a:lstStyle/>
                    <a:p>
                      <a:r>
                        <a:rPr lang="en-US" sz="1100" b="1"/>
                        <a:t>fact_payments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Payment methods, installments, payment values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4221002"/>
                  </a:ext>
                </a:extLst>
              </a:tr>
              <a:tr h="708568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fact_reviews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Customer review scores and feedback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63596663"/>
                  </a:ext>
                </a:extLst>
              </a:tr>
            </a:tbl>
          </a:graphicData>
        </a:graphic>
      </p:graphicFrame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280813FF-6861-3F39-EE53-9A3577ED07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03107525"/>
              </p:ext>
            </p:extLst>
          </p:nvPr>
        </p:nvGraphicFramePr>
        <p:xfrm>
          <a:off x="5387008" y="1763863"/>
          <a:ext cx="5216940" cy="2392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08470">
                  <a:extLst>
                    <a:ext uri="{9D8B030D-6E8A-4147-A177-3AD203B41FA5}">
                      <a16:colId xmlns:a16="http://schemas.microsoft.com/office/drawing/2014/main" val="2781053621"/>
                    </a:ext>
                  </a:extLst>
                </a:gridCol>
                <a:gridCol w="2608470">
                  <a:extLst>
                    <a:ext uri="{9D8B030D-6E8A-4147-A177-3AD203B41FA5}">
                      <a16:colId xmlns:a16="http://schemas.microsoft.com/office/drawing/2014/main" val="348141945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Dimension Table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730009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dim_customer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Customer location and unique customer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7201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dim_product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Product attributes and category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1018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dim_seller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Seller details and geographic information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80788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/>
                        <a:t>dim_geography</a:t>
                      </a: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/>
                        <a:t>Zip code, city, and state mapping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75973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b="1" dirty="0" err="1"/>
                        <a:t>dim_date</a:t>
                      </a:r>
                      <a:endParaRPr lang="en-US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Calendar hierarchy for time-based analysis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83101506"/>
                  </a:ext>
                </a:extLst>
              </a:tr>
            </a:tbl>
          </a:graphicData>
        </a:graphic>
      </p:graphicFrame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9BBFE1FE-4A86-DF2A-BC4E-5EA3ACB0C7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2240198"/>
              </p:ext>
            </p:extLst>
          </p:nvPr>
        </p:nvGraphicFramePr>
        <p:xfrm>
          <a:off x="5387008" y="4994671"/>
          <a:ext cx="6049618" cy="157623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4809">
                  <a:extLst>
                    <a:ext uri="{9D8B030D-6E8A-4147-A177-3AD203B41FA5}">
                      <a16:colId xmlns:a16="http://schemas.microsoft.com/office/drawing/2014/main" val="3084454713"/>
                    </a:ext>
                  </a:extLst>
                </a:gridCol>
                <a:gridCol w="3024809">
                  <a:extLst>
                    <a:ext uri="{9D8B030D-6E8A-4147-A177-3AD203B41FA5}">
                      <a16:colId xmlns:a16="http://schemas.microsoft.com/office/drawing/2014/main" val="216261423"/>
                    </a:ext>
                  </a:extLst>
                </a:gridCol>
              </a:tblGrid>
              <a:tr h="296339">
                <a:tc>
                  <a:txBody>
                    <a:bodyPr/>
                    <a:lstStyle/>
                    <a:p>
                      <a:r>
                        <a:rPr lang="en-US" sz="1100" dirty="0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9567490"/>
                  </a:ext>
                </a:extLst>
              </a:tr>
              <a:tr h="296339">
                <a:tc>
                  <a:txBody>
                    <a:bodyPr/>
                    <a:lstStyle/>
                    <a:p>
                      <a:r>
                        <a:rPr lang="en-US" sz="1100" dirty="0"/>
                        <a:t>Fact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3338803"/>
                  </a:ext>
                </a:extLst>
              </a:tr>
              <a:tr h="296339">
                <a:tc>
                  <a:txBody>
                    <a:bodyPr/>
                    <a:lstStyle/>
                    <a:p>
                      <a:r>
                        <a:rPr lang="en-US" sz="1100"/>
                        <a:t>Dimension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6308957"/>
                  </a:ext>
                </a:extLst>
              </a:tr>
              <a:tr h="296339">
                <a:tc>
                  <a:txBody>
                    <a:bodyPr/>
                    <a:lstStyle/>
                    <a:p>
                      <a:r>
                        <a:rPr lang="en-US" sz="1100"/>
                        <a:t>Total Tables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/>
                        <a:t>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8683614"/>
                  </a:ext>
                </a:extLst>
              </a:tr>
              <a:tr h="390878">
                <a:tc>
                  <a:txBody>
                    <a:bodyPr/>
                    <a:lstStyle/>
                    <a:p>
                      <a:r>
                        <a:rPr lang="en-US" sz="1100" dirty="0"/>
                        <a:t>Analytical Tasks Supported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100" dirty="0"/>
                        <a:t>15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8766472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41521EF-4772-D708-2313-994FB12DD8A8}"/>
              </a:ext>
            </a:extLst>
          </p:cNvPr>
          <p:cNvSpPr txBox="1"/>
          <p:nvPr/>
        </p:nvSpPr>
        <p:spPr>
          <a:xfrm>
            <a:off x="322470" y="188076"/>
            <a:ext cx="4064001" cy="523220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</a:rPr>
              <a:t>Fact &amp; Dimension Tables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E304AA8-0CB3-9FC8-6265-8D577E907E31}"/>
              </a:ext>
            </a:extLst>
          </p:cNvPr>
          <p:cNvSpPr txBox="1"/>
          <p:nvPr/>
        </p:nvSpPr>
        <p:spPr>
          <a:xfrm>
            <a:off x="322470" y="5366801"/>
            <a:ext cx="4064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The dimensional model separates transactional facts from descriptive dimensions, enabling faster reporting, simplified analytics, and efficient Power BI dashboard development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99489E-E1A1-F4F7-2462-2962FF5ADD01}"/>
              </a:ext>
            </a:extLst>
          </p:cNvPr>
          <p:cNvSpPr txBox="1"/>
          <p:nvPr/>
        </p:nvSpPr>
        <p:spPr>
          <a:xfrm>
            <a:off x="322470" y="4969565"/>
            <a:ext cx="3995527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Design Principle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572588D-16F2-23CA-9777-45067754AA24}"/>
              </a:ext>
            </a:extLst>
          </p:cNvPr>
          <p:cNvSpPr txBox="1"/>
          <p:nvPr/>
        </p:nvSpPr>
        <p:spPr>
          <a:xfrm>
            <a:off x="5387008" y="4625339"/>
            <a:ext cx="406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Warehouse Statistics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52800B-282D-7339-18C0-74FA555A8669}"/>
              </a:ext>
            </a:extLst>
          </p:cNvPr>
          <p:cNvSpPr txBox="1"/>
          <p:nvPr/>
        </p:nvSpPr>
        <p:spPr>
          <a:xfrm>
            <a:off x="5387008" y="1295068"/>
            <a:ext cx="406400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Dimension Tables (Descriptive Data)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827907-6F19-27B9-8149-97CA6518D7FC}"/>
              </a:ext>
            </a:extLst>
          </p:cNvPr>
          <p:cNvSpPr txBox="1"/>
          <p:nvPr/>
        </p:nvSpPr>
        <p:spPr>
          <a:xfrm>
            <a:off x="253997" y="993913"/>
            <a:ext cx="396019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Fact Table(Transactional Data)</a:t>
            </a:r>
          </a:p>
        </p:txBody>
      </p:sp>
    </p:spTree>
    <p:extLst>
      <p:ext uri="{BB962C8B-B14F-4D97-AF65-F5344CB8AC3E}">
        <p14:creationId xmlns:p14="http://schemas.microsoft.com/office/powerpoint/2010/main" val="159824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DCC9E-DA87-E617-A439-B79A77D5F4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kern="0" dirty="0">
                <a:effectLst/>
                <a:ea typeface="Times New Roman" panose="02020603050405020304" pitchFamily="18" charset="0"/>
              </a:rPr>
              <a:t>Star Schema / Data Warehouse Design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35659B-48F6-7540-7EA1-F986264E0577}"/>
              </a:ext>
            </a:extLst>
          </p:cNvPr>
          <p:cNvSpPr txBox="1"/>
          <p:nvPr/>
        </p:nvSpPr>
        <p:spPr>
          <a:xfrm>
            <a:off x="3810000" y="742122"/>
            <a:ext cx="4572000" cy="5716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50" b="1" dirty="0"/>
              <a:t>Data Warehouse Design (Star Schema)</a:t>
            </a:r>
          </a:p>
          <a:p>
            <a:r>
              <a:rPr lang="en-US" sz="1250" b="1" dirty="0"/>
              <a:t>Objective</a:t>
            </a:r>
          </a:p>
          <a:p>
            <a:r>
              <a:rPr lang="en-US" sz="1250" dirty="0"/>
              <a:t>Designed a dimensional data model to support business reporting, </a:t>
            </a:r>
          </a:p>
          <a:p>
            <a:r>
              <a:rPr lang="en-US" sz="1250" dirty="0"/>
              <a:t>KPI tracking, and Power BI analytics.</a:t>
            </a:r>
          </a:p>
          <a:p>
            <a:r>
              <a:rPr lang="en-US" sz="1250" b="1" dirty="0"/>
              <a:t>Fact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Fact Orders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Fact Order Items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Fact Payments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Fact Reviews </a:t>
            </a:r>
          </a:p>
          <a:p>
            <a:r>
              <a:rPr lang="en-US" sz="1250" b="1" dirty="0"/>
              <a:t>Dimension Tables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Dim Customer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Dim Product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Dim Seller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Dim Geography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Dim Date </a:t>
            </a:r>
          </a:p>
          <a:p>
            <a:r>
              <a:rPr lang="en-US" sz="125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Faster analytical queries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Simplified reporting structure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Scalable dashboard development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Improved business intelligence performance </a:t>
            </a:r>
          </a:p>
          <a:p>
            <a:r>
              <a:rPr lang="en-US" sz="1250" b="1" dirty="0"/>
              <a:t>Model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Central transaction facts connected to descriptive dimensions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Supports all 15 business analytical tasks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50" dirty="0"/>
              <a:t>Optimized for Power BI reporting 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25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400" dirty="0"/>
              <a:t>A dimensional star schema was designed to transform transactional e-commerce data into an analytics-ready data warehouse for business reporting and decision-making</a:t>
            </a:r>
            <a:r>
              <a:rPr lang="en-US" sz="1250" dirty="0"/>
              <a:t>.</a:t>
            </a:r>
          </a:p>
          <a:p>
            <a:endParaRPr lang="en-US" sz="11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A69F360-25BE-E94E-EE3E-6E6DF645397B}"/>
              </a:ext>
            </a:extLst>
          </p:cNvPr>
          <p:cNvSpPr txBox="1"/>
          <p:nvPr/>
        </p:nvSpPr>
        <p:spPr>
          <a:xfrm>
            <a:off x="8382000" y="742121"/>
            <a:ext cx="3173896" cy="5709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1200" dirty="0"/>
              <a:t>Relationship Diagram (Star Schema)</a:t>
            </a:r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 	</a:t>
            </a:r>
            <a:r>
              <a:rPr lang="en-US" sz="800" dirty="0" err="1"/>
              <a:t>dim_date</a:t>
            </a:r>
            <a:endParaRPr lang="en-US" sz="800" dirty="0"/>
          </a:p>
          <a:p>
            <a:pPr algn="ctr"/>
            <a:r>
              <a:rPr lang="en-US" sz="800" dirty="0"/>
              <a:t>                        |</a:t>
            </a:r>
          </a:p>
          <a:p>
            <a:pPr algn="ctr"/>
            <a:r>
              <a:rPr lang="en-US" sz="800" dirty="0"/>
              <a:t>                        |</a:t>
            </a:r>
          </a:p>
          <a:p>
            <a:pPr algn="ctr"/>
            <a:r>
              <a:rPr lang="en-US" sz="800" dirty="0"/>
              <a:t>                    </a:t>
            </a:r>
            <a:r>
              <a:rPr lang="en-US" sz="800" dirty="0" err="1"/>
              <a:t>fact_orders</a:t>
            </a:r>
            <a:endParaRPr lang="en-US" sz="800" dirty="0"/>
          </a:p>
          <a:p>
            <a:pPr algn="ctr"/>
            <a:r>
              <a:rPr lang="en-US" sz="800" dirty="0"/>
              <a:t>                        |</a:t>
            </a:r>
          </a:p>
          <a:p>
            <a:pPr algn="ctr"/>
            <a:r>
              <a:rPr lang="en-US" sz="800" dirty="0"/>
              <a:t>            -------------------------</a:t>
            </a:r>
          </a:p>
          <a:p>
            <a:pPr algn="ctr"/>
            <a:r>
              <a:rPr lang="en-US" sz="800" dirty="0"/>
              <a:t>            |                       |</a:t>
            </a:r>
          </a:p>
          <a:p>
            <a:pPr algn="ctr"/>
            <a:r>
              <a:rPr lang="en-US" sz="800" dirty="0"/>
              <a:t>            |                       |</a:t>
            </a:r>
          </a:p>
          <a:p>
            <a:pPr algn="ctr"/>
            <a:r>
              <a:rPr lang="en-US" sz="800" dirty="0"/>
              <a:t>      </a:t>
            </a:r>
            <a:r>
              <a:rPr lang="en-US" sz="800" dirty="0" err="1"/>
              <a:t>dim_customer</a:t>
            </a:r>
            <a:r>
              <a:rPr lang="en-US" sz="800" dirty="0"/>
              <a:t>          </a:t>
            </a:r>
            <a:r>
              <a:rPr lang="en-US" sz="800" dirty="0" err="1"/>
              <a:t>fact_reviews</a:t>
            </a:r>
            <a:endParaRPr lang="en-US" sz="800" dirty="0"/>
          </a:p>
          <a:p>
            <a:pPr algn="ctr"/>
            <a:r>
              <a:rPr lang="en-US" sz="800" dirty="0"/>
              <a:t>                                    |</a:t>
            </a:r>
          </a:p>
          <a:p>
            <a:pPr algn="ctr"/>
            <a:r>
              <a:rPr lang="en-US" sz="800" dirty="0"/>
              <a:t>                                    |</a:t>
            </a:r>
          </a:p>
          <a:p>
            <a:pPr algn="ctr"/>
            <a:r>
              <a:rPr lang="en-US" sz="800" dirty="0"/>
              <a:t>                               </a:t>
            </a:r>
            <a:r>
              <a:rPr lang="en-US" sz="800" dirty="0" err="1"/>
              <a:t>review_score</a:t>
            </a:r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                    </a:t>
            </a:r>
            <a:r>
              <a:rPr lang="en-US" sz="800" dirty="0" err="1"/>
              <a:t>fact_orders</a:t>
            </a:r>
            <a:endParaRPr lang="en-US" sz="800" dirty="0"/>
          </a:p>
          <a:p>
            <a:pPr algn="ctr"/>
            <a:r>
              <a:rPr lang="en-US" sz="800" dirty="0"/>
              <a:t>                        |</a:t>
            </a:r>
          </a:p>
          <a:p>
            <a:pPr algn="ctr"/>
            <a:r>
              <a:rPr lang="en-US" sz="800" dirty="0"/>
              <a:t>                        |</a:t>
            </a:r>
          </a:p>
          <a:p>
            <a:pPr algn="ctr"/>
            <a:r>
              <a:rPr lang="en-US" sz="800" dirty="0"/>
              <a:t>                 </a:t>
            </a:r>
            <a:r>
              <a:rPr lang="en-US" sz="800" dirty="0" err="1"/>
              <a:t>fact_order_items</a:t>
            </a:r>
            <a:endParaRPr lang="en-US" sz="800" dirty="0"/>
          </a:p>
          <a:p>
            <a:pPr algn="ctr"/>
            <a:r>
              <a:rPr lang="en-US" sz="800" dirty="0"/>
              <a:t>                    /         \</a:t>
            </a:r>
          </a:p>
          <a:p>
            <a:pPr algn="ctr"/>
            <a:r>
              <a:rPr lang="en-US" sz="800" dirty="0"/>
              <a:t>                   /           \</a:t>
            </a:r>
          </a:p>
          <a:p>
            <a:pPr algn="ctr"/>
            <a:r>
              <a:rPr lang="en-US" sz="800" dirty="0"/>
              <a:t>          </a:t>
            </a:r>
            <a:r>
              <a:rPr lang="en-US" sz="800" dirty="0" err="1"/>
              <a:t>dim_product</a:t>
            </a:r>
            <a:r>
              <a:rPr lang="en-US" sz="800" dirty="0"/>
              <a:t>      </a:t>
            </a:r>
            <a:r>
              <a:rPr lang="en-US" sz="800" dirty="0" err="1"/>
              <a:t>dim_seller</a:t>
            </a:r>
            <a:endParaRPr lang="en-US" sz="800" dirty="0"/>
          </a:p>
          <a:p>
            <a:pPr algn="ctr"/>
            <a:endParaRPr lang="en-US" sz="800" dirty="0"/>
          </a:p>
          <a:p>
            <a:pPr algn="ctr"/>
            <a:endParaRPr lang="en-US" sz="800" dirty="0"/>
          </a:p>
          <a:p>
            <a:pPr algn="ctr"/>
            <a:r>
              <a:rPr lang="en-US" sz="800" dirty="0"/>
              <a:t>                    </a:t>
            </a:r>
            <a:r>
              <a:rPr lang="en-US" sz="800" dirty="0" err="1"/>
              <a:t>fact_orders</a:t>
            </a:r>
            <a:endParaRPr lang="en-US" sz="800" dirty="0"/>
          </a:p>
          <a:p>
            <a:pPr algn="ctr"/>
            <a:r>
              <a:rPr lang="en-US" sz="800" dirty="0"/>
              <a:t>                        |</a:t>
            </a:r>
          </a:p>
          <a:p>
            <a:pPr algn="ctr"/>
            <a:r>
              <a:rPr lang="en-US" sz="800" dirty="0"/>
              <a:t>                        |</a:t>
            </a:r>
          </a:p>
          <a:p>
            <a:pPr algn="ctr"/>
            <a:r>
              <a:rPr lang="en-US" sz="800" dirty="0"/>
              <a:t>                 </a:t>
            </a:r>
            <a:r>
              <a:rPr lang="en-US" sz="800" dirty="0" err="1"/>
              <a:t>fact_payments</a:t>
            </a:r>
            <a:r>
              <a:rPr lang="en-US" sz="800" dirty="0"/>
              <a:t>.</a:t>
            </a:r>
          </a:p>
          <a:p>
            <a:pPr algn="ctr"/>
            <a:endParaRPr lang="en-US" sz="800" dirty="0"/>
          </a:p>
          <a:p>
            <a:pPr algn="ctr"/>
            <a:endParaRPr lang="en-US" sz="900" dirty="0"/>
          </a:p>
          <a:p>
            <a:r>
              <a:rPr lang="en-US" sz="900" dirty="0"/>
              <a:t>Fact Tables: 4</a:t>
            </a:r>
          </a:p>
          <a:p>
            <a:r>
              <a:rPr lang="en-US" sz="900" dirty="0"/>
              <a:t>Dimension Tables: 5</a:t>
            </a:r>
          </a:p>
          <a:p>
            <a:endParaRPr lang="en-US" sz="900" dirty="0"/>
          </a:p>
          <a:p>
            <a:r>
              <a:rPr lang="en-US" sz="900" dirty="0"/>
              <a:t>Relationships:</a:t>
            </a:r>
          </a:p>
          <a:p>
            <a:r>
              <a:rPr lang="en-US" sz="900" dirty="0"/>
              <a:t>One-to-Many</a:t>
            </a:r>
          </a:p>
          <a:p>
            <a:endParaRPr lang="en-US" sz="900" dirty="0"/>
          </a:p>
          <a:p>
            <a:r>
              <a:rPr lang="en-US" sz="900" dirty="0"/>
              <a:t>Architecture:</a:t>
            </a:r>
          </a:p>
          <a:p>
            <a:r>
              <a:rPr lang="en-US" sz="900" dirty="0"/>
              <a:t>Star Schema</a:t>
            </a:r>
          </a:p>
          <a:p>
            <a:pPr algn="ctr"/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8662743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1 Overall Order Operations Health Check. </a:t>
            </a: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What is the total number of orders, delivered orders, cancelled orders, and average order value across the dataset?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total orders, orders delivered, </a:t>
            </a:r>
          </a:p>
          <a:p>
            <a:r>
              <a:rPr lang="en-US" sz="1400" dirty="0"/>
              <a:t>orders delivery rate, canceled orders, </a:t>
            </a:r>
          </a:p>
          <a:p>
            <a:r>
              <a:rPr lang="en-US" sz="1400" dirty="0"/>
              <a:t>order canceled rate from fact_orders table.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B261FC66-4D68-93A5-31F8-9BA1B86424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9705136"/>
              </p:ext>
            </p:extLst>
          </p:nvPr>
        </p:nvGraphicFramePr>
        <p:xfrm>
          <a:off x="371061" y="3429000"/>
          <a:ext cx="2570922" cy="24976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670792302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97728195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KPI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92974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Total Orders</a:t>
                      </a:r>
                      <a:endParaRPr lang="en-US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99,441</a:t>
                      </a:r>
                      <a:endParaRPr lang="en-US" sz="11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1805201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Delivered Orders</a:t>
                      </a:r>
                      <a:endParaRPr lang="en-US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96,478</a:t>
                      </a:r>
                      <a:endParaRPr lang="en-US" sz="11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69506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Delivered %</a:t>
                      </a:r>
                      <a:endParaRPr lang="en-US" sz="11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97.02%</a:t>
                      </a:r>
                      <a:endParaRPr lang="en-US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076983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Cancelled Orders</a:t>
                      </a:r>
                      <a:endParaRPr lang="en-US" sz="11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625</a:t>
                      </a:r>
                      <a:endParaRPr lang="en-US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273348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Cancelled %</a:t>
                      </a:r>
                      <a:endParaRPr lang="en-US" sz="11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0.63%</a:t>
                      </a:r>
                      <a:endParaRPr lang="en-US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36807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Average Order Value</a:t>
                      </a:r>
                      <a:endParaRPr lang="en-US" sz="1100" kern="10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₹160.99 (</a:t>
                      </a:r>
                      <a:endParaRPr lang="en-US" sz="1100" kern="1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59847456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2739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The e-commerce platform processed 99,441 orders during the analysis period. Of these, 96,478 orders were successfully delivered, resulting in a delivery success rate of 97.02%. Only 625 orders were cancelled, representing less than 1% of total orders. The average order value was 160.99, indicating a healthy transaction value across the platform.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EFF219-FBAE-8465-6922-87D491BC1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5113" y="954157"/>
            <a:ext cx="5035825" cy="4972489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</p:spTree>
    <p:extLst>
      <p:ext uri="{BB962C8B-B14F-4D97-AF65-F5344CB8AC3E}">
        <p14:creationId xmlns:p14="http://schemas.microsoft.com/office/powerpoint/2010/main" val="41410945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IN" sz="1800" b="1" dirty="0">
                <a:solidFill>
                  <a:schemeClr val="bg1">
                    <a:lumMod val="95000"/>
                  </a:schemeClr>
                </a:solidFill>
                <a:effectLst/>
                <a:latin typeface="+mj-lt"/>
                <a:ea typeface="Times New Roman" panose="02020603050405020304" pitchFamily="18" charset="0"/>
              </a:rPr>
              <a:t>Task 2: Order Lifecycle Performance</a:t>
            </a:r>
            <a:endParaRPr lang="en-US" dirty="0">
              <a:solidFill>
                <a:schemeClr val="bg1">
                  <a:lumMod val="95000"/>
                </a:schemeClr>
              </a:solidFill>
              <a:latin typeface="+mj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What is the distribution of orders across different statuses (delivered, cancelled, shipped, etc.)?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and grouped by order status  from fact_orders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28031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Delivered orders dominate the order lifecycle with 96,478 orders, accounting for over 97% of all orders. Only 625 orders were cancelled and 609 were unavailable, indicating a highly efficient fulfillment process. The small number of orders in intermediate states (processing, invoiced, shipped) suggests that most orders successfully progress through the fulfillment pipeline.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B839561-3346-274F-C7E8-0512C7DBE6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7718020"/>
              </p:ext>
            </p:extLst>
          </p:nvPr>
        </p:nvGraphicFramePr>
        <p:xfrm>
          <a:off x="371061" y="3576126"/>
          <a:ext cx="2570922" cy="273921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2048708566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3164144789"/>
                    </a:ext>
                  </a:extLst>
                </a:gridCol>
              </a:tblGrid>
              <a:tr h="30435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</a:rPr>
                        <a:t>Order Status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</a:rPr>
                        <a:t>Orders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270880075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Delivered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96,478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648260688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Shipped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1,107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62334276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Canceled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625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657774433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Unavailable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609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9346476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Invoiced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314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48316025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Processing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301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2162192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Created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5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24480802"/>
                  </a:ext>
                </a:extLst>
              </a:tr>
              <a:tr h="30435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>
                          <a:effectLst/>
                        </a:rPr>
                        <a:t>Approved</a:t>
                      </a:r>
                      <a:endParaRPr lang="en-US" sz="14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dirty="0">
                          <a:effectLst/>
                        </a:rPr>
                        <a:t>2</a:t>
                      </a:r>
                      <a:endParaRPr lang="en-US" sz="14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441161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50570101-475E-A4F0-D9BA-97565456BC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5774" y="1328488"/>
            <a:ext cx="5125165" cy="3886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494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3 - Delivery Time 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What is the average delivery time from order purchase to actual delivery?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average delivery days from fact_orders table.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1563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Customers received their orders in an average of 12.5 days from purchase to delivery. This metric serves as a baseline for evaluating logistics performance and customer expectations.</a:t>
            </a:r>
            <a:endParaRPr lang="en-US" sz="1400" kern="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CD45EEF-E927-EB9A-DC92-B626FACE9E21}"/>
              </a:ext>
            </a:extLst>
          </p:cNvPr>
          <p:cNvSpPr txBox="1"/>
          <p:nvPr/>
        </p:nvSpPr>
        <p:spPr>
          <a:xfrm>
            <a:off x="371061" y="3551583"/>
            <a:ext cx="2570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Average Delivery Days is 12.5 days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50EFA08-EFFE-B7E3-8467-4EEE2E9B9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6517" y="1339104"/>
            <a:ext cx="4496427" cy="2172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9526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4: Delivery Delay 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How many orders are delivered after the estimated delivery date?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Used a case statement and bucketed delayed and on-time orders from fact_orders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1400" dirty="0">
                <a:effectLst/>
                <a:ea typeface="Times New Roman" panose="02020603050405020304" pitchFamily="18" charset="0"/>
              </a:rPr>
              <a:t>Approximately 93.2% of delivered orders reached customers on or before the estimated delivery date. Only 6.8% of orders experienced delays, demonstrating strong logistics and delivery performance.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E254B2A9-E211-9742-F3D5-D019546550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2905645"/>
              </p:ext>
            </p:extLst>
          </p:nvPr>
        </p:nvGraphicFramePr>
        <p:xfrm>
          <a:off x="371061" y="3581411"/>
          <a:ext cx="2570922" cy="1424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757657604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438864420"/>
                    </a:ext>
                  </a:extLst>
                </a:gridCol>
              </a:tblGrid>
              <a:tr h="47487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Delivery Status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Orders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593340404"/>
                  </a:ext>
                </a:extLst>
              </a:tr>
              <a:tr h="4748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 Time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89,941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3166255"/>
                  </a:ext>
                </a:extLst>
              </a:tr>
              <a:tr h="47487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Delayed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6,535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96424294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ECA276D8-BF03-E1B7-6534-4EC77358D5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1276573"/>
            <a:ext cx="4172532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3822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5 Seller Performance Benchmarking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For each seller, what are the total orders handled, average delivery time, and average customer review score?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total orders handled, </a:t>
            </a:r>
            <a:r>
              <a:rPr lang="en-US" sz="1400" dirty="0" err="1"/>
              <a:t>avg_delivery</a:t>
            </a:r>
            <a:r>
              <a:rPr lang="en-US" sz="1400" dirty="0"/>
              <a:t> days, </a:t>
            </a:r>
            <a:r>
              <a:rPr lang="en-US" sz="1400" dirty="0" err="1"/>
              <a:t>avg_review_score</a:t>
            </a:r>
            <a:r>
              <a:rPr lang="en-US" sz="1400" dirty="0"/>
              <a:t> from </a:t>
            </a:r>
            <a:r>
              <a:rPr lang="en-US" sz="1400" dirty="0" err="1"/>
              <a:t>fact_order_items</a:t>
            </a:r>
            <a:r>
              <a:rPr lang="en-US" sz="1400" dirty="0"/>
              <a:t> table</a:t>
            </a:r>
          </a:p>
          <a:p>
            <a:r>
              <a:rPr lang="en-US" sz="1400" dirty="0"/>
              <a:t>Joined fact_orders and </a:t>
            </a:r>
            <a:r>
              <a:rPr lang="en-US" sz="1400" dirty="0" err="1"/>
              <a:t>order_items</a:t>
            </a:r>
            <a:r>
              <a:rPr lang="en-US" sz="1400" dirty="0"/>
              <a:t> table</a:t>
            </a:r>
          </a:p>
          <a:p>
            <a:r>
              <a:rPr lang="en-US" sz="1400" dirty="0"/>
              <a:t>Grouped by </a:t>
            </a:r>
            <a:r>
              <a:rPr lang="en-US" sz="1400" dirty="0" err="1"/>
              <a:t>seller_id</a:t>
            </a:r>
            <a:r>
              <a:rPr lang="en-US" sz="1400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0" y="3750073"/>
            <a:ext cx="292873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1400" dirty="0">
                <a:effectLst/>
                <a:ea typeface="Times New Roman" panose="02020603050405020304" pitchFamily="18" charset="0"/>
              </a:rPr>
              <a:t>Top-performing sellers handle over 1,800 orders while maintaining delivery times below the overall average of 12.5 days. Seller performance varies significantly, suggesting opportunities for benchmarking logistics and customer service practices.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89" y="3204137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15" name="Table 15">
            <a:extLst>
              <a:ext uri="{FF2B5EF4-FFF2-40B4-BE49-F238E27FC236}">
                <a16:creationId xmlns:a16="http://schemas.microsoft.com/office/drawing/2014/main" id="{1CD1C2F1-7509-8F92-4CE6-4577E4BAE2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405775"/>
              </p:ext>
            </p:extLst>
          </p:nvPr>
        </p:nvGraphicFramePr>
        <p:xfrm>
          <a:off x="371061" y="3981910"/>
          <a:ext cx="2650436" cy="17960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2609">
                  <a:extLst>
                    <a:ext uri="{9D8B030D-6E8A-4147-A177-3AD203B41FA5}">
                      <a16:colId xmlns:a16="http://schemas.microsoft.com/office/drawing/2014/main" val="3540059496"/>
                    </a:ext>
                  </a:extLst>
                </a:gridCol>
                <a:gridCol w="662609">
                  <a:extLst>
                    <a:ext uri="{9D8B030D-6E8A-4147-A177-3AD203B41FA5}">
                      <a16:colId xmlns:a16="http://schemas.microsoft.com/office/drawing/2014/main" val="4037564032"/>
                    </a:ext>
                  </a:extLst>
                </a:gridCol>
                <a:gridCol w="662609">
                  <a:extLst>
                    <a:ext uri="{9D8B030D-6E8A-4147-A177-3AD203B41FA5}">
                      <a16:colId xmlns:a16="http://schemas.microsoft.com/office/drawing/2014/main" val="4245982769"/>
                    </a:ext>
                  </a:extLst>
                </a:gridCol>
                <a:gridCol w="662609">
                  <a:extLst>
                    <a:ext uri="{9D8B030D-6E8A-4147-A177-3AD203B41FA5}">
                      <a16:colId xmlns:a16="http://schemas.microsoft.com/office/drawing/2014/main" val="4158259648"/>
                    </a:ext>
                  </a:extLst>
                </a:gridCol>
              </a:tblGrid>
              <a:tr h="89801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Seller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Orders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Avg Delivery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Avg Review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39324797"/>
                  </a:ext>
                </a:extLst>
              </a:tr>
              <a:tr h="89801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Top Seller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1,854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9.48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3.91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861564108"/>
                  </a:ext>
                </a:extLst>
              </a:tr>
            </a:tbl>
          </a:graphicData>
        </a:graphic>
      </p:graphicFrame>
      <p:pic>
        <p:nvPicPr>
          <p:cNvPr id="17" name="Picture 16">
            <a:extLst>
              <a:ext uri="{FF2B5EF4-FFF2-40B4-BE49-F238E27FC236}">
                <a16:creationId xmlns:a16="http://schemas.microsoft.com/office/drawing/2014/main" id="{44038601-931D-45C1-253B-CF8AAA1410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5144" y="1014065"/>
            <a:ext cx="5585795" cy="5115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3389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646331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6: Customer Distribution and Demand 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Which regions or cities generate the highest number of customers and orders?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</a:t>
            </a:r>
            <a:r>
              <a:rPr lang="en-US" sz="1400" dirty="0" err="1"/>
              <a:t>customer_state</a:t>
            </a:r>
            <a:r>
              <a:rPr lang="en-US" sz="1400" dirty="0"/>
              <a:t> and total orders.</a:t>
            </a:r>
          </a:p>
          <a:p>
            <a:r>
              <a:rPr lang="en-US" sz="1400" dirty="0"/>
              <a:t>Joined fact_orders and </a:t>
            </a:r>
            <a:r>
              <a:rPr lang="en-US" sz="1400" dirty="0" err="1"/>
              <a:t>dim_customer</a:t>
            </a:r>
            <a:r>
              <a:rPr lang="en-US" sz="1400" dirty="0"/>
              <a:t> table</a:t>
            </a:r>
          </a:p>
          <a:p>
            <a:r>
              <a:rPr lang="en-US" sz="1400" dirty="0"/>
              <a:t>Grouped by </a:t>
            </a:r>
            <a:r>
              <a:rPr lang="en-US" sz="1400" dirty="0" err="1"/>
              <a:t>customer_state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663205"/>
            <a:ext cx="2928731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effectLst/>
                <a:ea typeface="Times New Roman" panose="02020603050405020304" pitchFamily="18" charset="0"/>
              </a:rPr>
              <a:t>São Paulo dominates customer demand, contributing more than 40% of all orders. This region should be considered a strategic market for marketing investment and logistics optimization.</a:t>
            </a:r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160703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6D95477E-80FF-7009-E16E-8524A9ACCA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760170"/>
              </p:ext>
            </p:extLst>
          </p:nvPr>
        </p:nvGraphicFramePr>
        <p:xfrm>
          <a:off x="371061" y="3640014"/>
          <a:ext cx="2570922" cy="25281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3313161051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3385920888"/>
                    </a:ext>
                  </a:extLst>
                </a:gridCol>
              </a:tblGrid>
              <a:tr h="36117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State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Orders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91303893"/>
                  </a:ext>
                </a:extLst>
              </a:tr>
              <a:tr h="3611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SP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41,746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93094592"/>
                  </a:ext>
                </a:extLst>
              </a:tr>
              <a:tr h="3611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RJ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12,852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26526765"/>
                  </a:ext>
                </a:extLst>
              </a:tr>
              <a:tr h="3611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MG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11,635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65697872"/>
                  </a:ext>
                </a:extLst>
              </a:tr>
              <a:tr h="3611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City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Customers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579594473"/>
                  </a:ext>
                </a:extLst>
              </a:tr>
              <a:tr h="3611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Sao Paulo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15,540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820877807"/>
                  </a:ext>
                </a:extLst>
              </a:tr>
              <a:tr h="361171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Rio de Janeiro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6,882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8348836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3E38E219-C8C0-67EF-6314-99CA015EAE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1152319"/>
            <a:ext cx="3833632" cy="3247403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EBEBF2F-DBA1-9D8F-C12F-23B57A1C4D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1728" y="4399722"/>
            <a:ext cx="2779108" cy="2323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2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7: Product Category Performance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Which product categories generate the highest order volume and revenue?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</a:t>
            </a:r>
            <a:r>
              <a:rPr lang="en-US" sz="1400" dirty="0" err="1"/>
              <a:t>product_category_name</a:t>
            </a:r>
            <a:r>
              <a:rPr lang="en-US" sz="1400" dirty="0"/>
              <a:t> and </a:t>
            </a:r>
            <a:r>
              <a:rPr lang="en-US" sz="1400" dirty="0" err="1"/>
              <a:t>order_volume</a:t>
            </a:r>
            <a:r>
              <a:rPr lang="en-US" sz="1400" dirty="0"/>
              <a:t> and sum of price.</a:t>
            </a:r>
          </a:p>
          <a:p>
            <a:r>
              <a:rPr lang="en-US" sz="1400" dirty="0"/>
              <a:t>Joined </a:t>
            </a:r>
            <a:r>
              <a:rPr lang="en-US" sz="1400" dirty="0" err="1"/>
              <a:t>fact_order_items</a:t>
            </a:r>
            <a:r>
              <a:rPr lang="en-US" sz="1400" dirty="0"/>
              <a:t> and </a:t>
            </a:r>
            <a:r>
              <a:rPr lang="en-US" sz="1400" dirty="0" err="1"/>
              <a:t>dim_product</a:t>
            </a:r>
            <a:r>
              <a:rPr lang="en-US" sz="1400" dirty="0"/>
              <a:t> table.</a:t>
            </a:r>
          </a:p>
          <a:p>
            <a:r>
              <a:rPr lang="en-US" sz="1400" dirty="0"/>
              <a:t>Grouped by </a:t>
            </a:r>
            <a:r>
              <a:rPr lang="en-US" sz="1400" dirty="0" err="1"/>
              <a:t>product_category_name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0" y="3826979"/>
            <a:ext cx="2928731" cy="10164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1600" dirty="0">
                <a:effectLst/>
                <a:ea typeface="Times New Roman" panose="02020603050405020304" pitchFamily="18" charset="0"/>
              </a:rPr>
              <a:t>Health Beauty generates both: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High revenue </a:t>
            </a:r>
          </a:p>
          <a:p>
            <a:pPr marL="342900" marR="0" lvl="0" indent="-34290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US" sz="16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High order volume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89" y="3398305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12" name="Table 14">
            <a:extLst>
              <a:ext uri="{FF2B5EF4-FFF2-40B4-BE49-F238E27FC236}">
                <a16:creationId xmlns:a16="http://schemas.microsoft.com/office/drawing/2014/main" id="{DB80D843-66DB-9B05-234E-063306D300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251560"/>
              </p:ext>
            </p:extLst>
          </p:nvPr>
        </p:nvGraphicFramePr>
        <p:xfrm>
          <a:off x="371061" y="3826979"/>
          <a:ext cx="2570922" cy="16713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1759528015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2872674491"/>
                    </a:ext>
                  </a:extLst>
                </a:gridCol>
              </a:tblGrid>
              <a:tr h="41783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926383002"/>
                  </a:ext>
                </a:extLst>
              </a:tr>
              <a:tr h="4178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Health Beauty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1.26M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36376994"/>
                  </a:ext>
                </a:extLst>
              </a:tr>
              <a:tr h="4178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Watches Gifts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1.21M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09979857"/>
                  </a:ext>
                </a:extLst>
              </a:tr>
              <a:tr h="417837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Bed Bath Table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1.04M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079065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A0B0D42E-BD36-A093-189E-4160D7E2D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730" y="1359671"/>
            <a:ext cx="5087060" cy="407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7589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8: Payment Behavior 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What is the distribution of payment methods and their contribution to total revenue?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all transactions and revenue from </a:t>
            </a:r>
            <a:r>
              <a:rPr lang="en-US" sz="1400" dirty="0" err="1"/>
              <a:t>fact_payments</a:t>
            </a:r>
            <a:r>
              <a:rPr lang="en-US" sz="1400" dirty="0"/>
              <a:t> table. </a:t>
            </a:r>
          </a:p>
          <a:p>
            <a:r>
              <a:rPr lang="en-US" sz="1400" dirty="0"/>
              <a:t>Grouped by </a:t>
            </a:r>
            <a:r>
              <a:rPr lang="en-US" sz="1400" dirty="0" err="1"/>
              <a:t>payment_type</a:t>
            </a:r>
            <a:r>
              <a:rPr lang="en-US" sz="1400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1400" dirty="0">
                <a:effectLst/>
                <a:ea typeface="Times New Roman" panose="02020603050405020304" pitchFamily="18" charset="0"/>
              </a:rPr>
              <a:t>Credit cards account for the overwhelming majority of transactions and revenue, making them the dominant payment method. Any payment gateway disruptions could significantly impact revenue.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CC10143D-4BA7-5376-17C3-3C968246A6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031381"/>
              </p:ext>
            </p:extLst>
          </p:nvPr>
        </p:nvGraphicFramePr>
        <p:xfrm>
          <a:off x="371060" y="3579181"/>
          <a:ext cx="2650436" cy="19990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218">
                  <a:extLst>
                    <a:ext uri="{9D8B030D-6E8A-4147-A177-3AD203B41FA5}">
                      <a16:colId xmlns:a16="http://schemas.microsoft.com/office/drawing/2014/main" val="3598248318"/>
                    </a:ext>
                  </a:extLst>
                </a:gridCol>
                <a:gridCol w="1325218">
                  <a:extLst>
                    <a:ext uri="{9D8B030D-6E8A-4147-A177-3AD203B41FA5}">
                      <a16:colId xmlns:a16="http://schemas.microsoft.com/office/drawing/2014/main" val="4042004078"/>
                    </a:ext>
                  </a:extLst>
                </a:gridCol>
              </a:tblGrid>
              <a:tr h="66636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Payment Type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Revenue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143220700"/>
                  </a:ext>
                </a:extLst>
              </a:tr>
              <a:tr h="666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Credit Card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12.5M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616860113"/>
                  </a:ext>
                </a:extLst>
              </a:tr>
              <a:tr h="66636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Boleto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2.87M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02261531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80431C73-F4E0-DE15-8DAB-8C69D3E9D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1477992"/>
            <a:ext cx="4620270" cy="3534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04926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9: Customer Satisfaction 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What is the distribution of customer review scores across all orders?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</a:t>
            </a:r>
            <a:r>
              <a:rPr lang="en-US" sz="1400" dirty="0" err="1"/>
              <a:t>review_score</a:t>
            </a:r>
            <a:r>
              <a:rPr lang="en-US" sz="1400" dirty="0"/>
              <a:t>, total reviews by joining </a:t>
            </a:r>
            <a:r>
              <a:rPr lang="en-US" sz="1400" dirty="0" err="1"/>
              <a:t>fact_reviews</a:t>
            </a:r>
            <a:r>
              <a:rPr lang="en-US" sz="1400" dirty="0"/>
              <a:t> and fact_orders table.</a:t>
            </a:r>
          </a:p>
          <a:p>
            <a:r>
              <a:rPr lang="en-US" sz="1400" dirty="0"/>
              <a:t>Grouped by </a:t>
            </a:r>
            <a:r>
              <a:rPr lang="en-US" sz="1400" dirty="0" err="1"/>
              <a:t>review_score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12408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4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More than half of all reviews received the highest possible rating, indicating strong overall customer satisfaction.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8B9ACA18-3718-8E7B-56C9-CB134E2FEC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7142668"/>
              </p:ext>
            </p:extLst>
          </p:nvPr>
        </p:nvGraphicFramePr>
        <p:xfrm>
          <a:off x="371061" y="3985026"/>
          <a:ext cx="2570922" cy="12760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4009031463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3273523174"/>
                    </a:ext>
                  </a:extLst>
                </a:gridCol>
              </a:tblGrid>
              <a:tr h="31902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Score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Reviews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9649878"/>
                  </a:ext>
                </a:extLst>
              </a:tr>
              <a:tr h="3190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57,066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17326913"/>
                  </a:ext>
                </a:extLst>
              </a:tr>
              <a:tr h="3190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18,987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27381688"/>
                  </a:ext>
                </a:extLst>
              </a:tr>
              <a:tr h="31902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9,406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29015983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92D97867-EC5F-C223-C676-AA51F83C5F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1396249"/>
            <a:ext cx="3410426" cy="344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60949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10: Delivery vs Review Relationship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How does delivery time impact customer review scores?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delivery days and </a:t>
            </a:r>
            <a:r>
              <a:rPr lang="en-US" sz="1400" dirty="0" err="1"/>
              <a:t>avg_review_score</a:t>
            </a:r>
            <a:r>
              <a:rPr lang="en-US" sz="1400" dirty="0"/>
              <a:t> by joining fact_orders and </a:t>
            </a:r>
            <a:r>
              <a:rPr lang="en-US" sz="1400" dirty="0" err="1"/>
              <a:t>fact_reviews</a:t>
            </a:r>
            <a:r>
              <a:rPr lang="en-US" sz="1400" dirty="0"/>
              <a:t> table. </a:t>
            </a:r>
          </a:p>
          <a:p>
            <a:r>
              <a:rPr lang="en-US" sz="1400" dirty="0"/>
              <a:t>Grouped by </a:t>
            </a:r>
            <a:r>
              <a:rPr lang="en-US" sz="1400" dirty="0" err="1"/>
              <a:t>delivery_days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1400" dirty="0">
                <a:effectLst/>
                <a:ea typeface="Times New Roman" panose="02020603050405020304" pitchFamily="18" charset="0"/>
              </a:rPr>
              <a:t>Customer satisfaction decreases as delivery time increases, demonstrating a clear relationship between operational efficiency and customer experience.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642D704A-493B-53F7-0D29-133BB45915E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3200239"/>
              </p:ext>
            </p:extLst>
          </p:nvPr>
        </p:nvGraphicFramePr>
        <p:xfrm>
          <a:off x="371061" y="3807241"/>
          <a:ext cx="2570922" cy="1480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2022999337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782922341"/>
                    </a:ext>
                  </a:extLst>
                </a:gridCol>
              </a:tblGrid>
              <a:tr h="37009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Delivery Days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Avg Review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0055994"/>
                  </a:ext>
                </a:extLst>
              </a:tr>
              <a:tr h="370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5.00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949415655"/>
                  </a:ext>
                </a:extLst>
              </a:tr>
              <a:tr h="370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4.53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12140393"/>
                  </a:ext>
                </a:extLst>
              </a:tr>
              <a:tr h="3700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4.49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050284029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475173E7-37E6-FF70-F5D8-357FA841B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88973" y="1328488"/>
            <a:ext cx="4363059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3991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11: Order Value &amp; Revenue 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What is the average order value across different product categories?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Calculated </a:t>
            </a:r>
            <a:r>
              <a:rPr lang="en-US" sz="1400" dirty="0" err="1"/>
              <a:t>product_category_name</a:t>
            </a:r>
            <a:r>
              <a:rPr lang="en-US" sz="1400" dirty="0"/>
              <a:t>, </a:t>
            </a:r>
            <a:r>
              <a:rPr lang="en-US" sz="1400" dirty="0" err="1"/>
              <a:t>total_orders</a:t>
            </a:r>
            <a:r>
              <a:rPr lang="en-US" sz="1400" dirty="0"/>
              <a:t>, </a:t>
            </a:r>
            <a:r>
              <a:rPr lang="en-US" sz="1400" dirty="0" err="1"/>
              <a:t>total_revenue</a:t>
            </a:r>
            <a:r>
              <a:rPr lang="en-US" sz="1400" dirty="0"/>
              <a:t>, and </a:t>
            </a:r>
            <a:r>
              <a:rPr lang="en-US" sz="1400" dirty="0" err="1"/>
              <a:t>avg_order_value</a:t>
            </a:r>
            <a:r>
              <a:rPr lang="en-US" sz="1400" dirty="0"/>
              <a:t> by joining </a:t>
            </a:r>
            <a:r>
              <a:rPr lang="en-US" sz="1400" dirty="0" err="1"/>
              <a:t>fact_order_items</a:t>
            </a:r>
            <a:r>
              <a:rPr lang="en-US" sz="1400" dirty="0"/>
              <a:t> and </a:t>
            </a:r>
            <a:r>
              <a:rPr lang="en-US" sz="1400" dirty="0" err="1"/>
              <a:t>dim_product</a:t>
            </a:r>
            <a:r>
              <a:rPr lang="en-US" sz="1400" dirty="0"/>
              <a:t> table.</a:t>
            </a:r>
          </a:p>
          <a:p>
            <a:r>
              <a:rPr lang="en-US" sz="1400" dirty="0"/>
              <a:t>Grouped by </a:t>
            </a:r>
            <a:r>
              <a:rPr lang="en-US" sz="1400" dirty="0" err="1"/>
              <a:t>product_category_name</a:t>
            </a:r>
            <a:endParaRPr lang="en-US" sz="1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0" y="3924385"/>
            <a:ext cx="29287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1600" dirty="0">
                <a:effectLst/>
                <a:ea typeface="Times New Roman" panose="02020603050405020304" pitchFamily="18" charset="0"/>
              </a:rPr>
              <a:t>Health Beauty drives revenue.</a:t>
            </a:r>
          </a:p>
          <a:p>
            <a:pPr marL="0" marR="0"/>
            <a:r>
              <a:rPr lang="en-US" sz="1600" dirty="0">
                <a:effectLst/>
                <a:ea typeface="Times New Roman" panose="02020603050405020304" pitchFamily="18" charset="0"/>
              </a:rPr>
              <a:t>Computers drive value.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89" y="3291293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AD4CC9FF-C04A-FAFA-BD79-62D738605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6013621"/>
              </p:ext>
            </p:extLst>
          </p:nvPr>
        </p:nvGraphicFramePr>
        <p:xfrm>
          <a:off x="371061" y="3807241"/>
          <a:ext cx="2570922" cy="10960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875578320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1833775204"/>
                    </a:ext>
                  </a:extLst>
                </a:gridCol>
              </a:tblGrid>
              <a:tr h="36535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Category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Avg Order Value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01883356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Computers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1,098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250931426"/>
                  </a:ext>
                </a:extLst>
              </a:tr>
              <a:tr h="36535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Small Appliances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624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62677480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:a16="http://schemas.microsoft.com/office/drawing/2014/main" id="{160E7A1A-23CF-A9E1-1BA4-6391412E7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5" y="1361786"/>
            <a:ext cx="4933388" cy="4296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4356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12: Time-Based Order Trends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How do order volumes vary over time (monthly or yearly)?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Created </a:t>
            </a:r>
            <a:r>
              <a:rPr lang="en-US" sz="1400" dirty="0" err="1"/>
              <a:t>dim_date</a:t>
            </a:r>
            <a:r>
              <a:rPr lang="en-US" sz="1400" dirty="0"/>
              <a:t> table and joined with fact_orders table. Calculated, year, month, and total orders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Between February 2017 to August 2018, there has been  highest order volume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4D0FA6A-7813-63BF-F49B-BDE375C3BB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1697820"/>
            <a:ext cx="4810796" cy="491558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07303B-ED3C-378C-7739-23721F9A2595}"/>
              </a:ext>
            </a:extLst>
          </p:cNvPr>
          <p:cNvSpPr txBox="1"/>
          <p:nvPr/>
        </p:nvSpPr>
        <p:spPr>
          <a:xfrm>
            <a:off x="371061" y="3798332"/>
            <a:ext cx="25709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Mar 2018 has had the highest orders</a:t>
            </a:r>
          </a:p>
        </p:txBody>
      </p:sp>
    </p:spTree>
    <p:extLst>
      <p:ext uri="{BB962C8B-B14F-4D97-AF65-F5344CB8AC3E}">
        <p14:creationId xmlns:p14="http://schemas.microsoft.com/office/powerpoint/2010/main" val="9243744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>
                    <a:lumMod val="95000"/>
                  </a:schemeClr>
                </a:solidFill>
                <a:effectLst/>
                <a:latin typeface="Consolas" panose="020B0609020204030204" pitchFamily="49" charset="0"/>
              </a:rPr>
              <a:t>Task 13: Customer Retention Analysis</a:t>
            </a:r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How many customers make repeat purchases?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Created a staging table </a:t>
            </a:r>
            <a:r>
              <a:rPr lang="en-US" sz="1400" dirty="0" err="1"/>
              <a:t>customer_orders</a:t>
            </a:r>
            <a:r>
              <a:rPr lang="en-US" sz="1400" dirty="0"/>
              <a:t> and loaded data by joining fact_orders and </a:t>
            </a:r>
            <a:r>
              <a:rPr lang="en-US" sz="1400" dirty="0" err="1"/>
              <a:t>dim_customer</a:t>
            </a:r>
            <a:r>
              <a:rPr lang="en-US" sz="1400" dirty="0"/>
              <a:t> table. Used a case statement and bucketed </a:t>
            </a:r>
            <a:r>
              <a:rPr lang="en-US" sz="1400" dirty="0" err="1"/>
              <a:t>customer_type</a:t>
            </a:r>
            <a:r>
              <a:rPr lang="en-US" sz="1400" dirty="0"/>
              <a:t>. Calculated percentage of </a:t>
            </a:r>
            <a:r>
              <a:rPr lang="en-US" sz="1400" dirty="0" err="1"/>
              <a:t>customer_type</a:t>
            </a:r>
            <a:r>
              <a:rPr lang="en-US" sz="1400" dirty="0"/>
              <a:t> by dividing count(</a:t>
            </a:r>
            <a:r>
              <a:rPr lang="en-US" sz="1400" dirty="0" err="1"/>
              <a:t>customer_type</a:t>
            </a:r>
            <a:r>
              <a:rPr lang="en-US" sz="1400" dirty="0"/>
              <a:t>, </a:t>
            </a:r>
            <a:r>
              <a:rPr lang="en-US" sz="1400" dirty="0" err="1"/>
              <a:t>total_orders</a:t>
            </a:r>
            <a:r>
              <a:rPr lang="en-US" sz="1400" dirty="0"/>
              <a:t>) and sum(</a:t>
            </a:r>
            <a:r>
              <a:rPr lang="en-US" sz="1400" dirty="0" err="1"/>
              <a:t>customer_type</a:t>
            </a:r>
            <a:r>
              <a:rPr lang="en-US" sz="1400" dirty="0"/>
              <a:t>, </a:t>
            </a:r>
            <a:r>
              <a:rPr lang="en-US" sz="1400" dirty="0" err="1"/>
              <a:t>total_orders</a:t>
            </a:r>
            <a:r>
              <a:rPr lang="en-US" sz="1400" dirty="0"/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160644" y="4360450"/>
            <a:ext cx="292873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/>
            <a:r>
              <a:rPr lang="en-US" sz="1600" dirty="0">
                <a:effectLst/>
                <a:ea typeface="Times New Roman" panose="02020603050405020304" pitchFamily="18" charset="0"/>
              </a:rPr>
              <a:t>Only 3.12% of customers made repeat purchases, indicating a significant opportunity to improve customer retention and loyalty programs.</a:t>
            </a:r>
          </a:p>
          <a:p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167269" y="3962885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graphicFrame>
        <p:nvGraphicFramePr>
          <p:cNvPr id="2" name="Table 11">
            <a:extLst>
              <a:ext uri="{FF2B5EF4-FFF2-40B4-BE49-F238E27FC236}">
                <a16:creationId xmlns:a16="http://schemas.microsoft.com/office/drawing/2014/main" id="{F4D92A19-01FF-479F-5143-BBD0B7FA6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12422854"/>
              </p:ext>
            </p:extLst>
          </p:nvPr>
        </p:nvGraphicFramePr>
        <p:xfrm>
          <a:off x="371061" y="4008414"/>
          <a:ext cx="2570922" cy="17827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5461">
                  <a:extLst>
                    <a:ext uri="{9D8B030D-6E8A-4147-A177-3AD203B41FA5}">
                      <a16:colId xmlns:a16="http://schemas.microsoft.com/office/drawing/2014/main" val="3582768519"/>
                    </a:ext>
                  </a:extLst>
                </a:gridCol>
                <a:gridCol w="1285461">
                  <a:extLst>
                    <a:ext uri="{9D8B030D-6E8A-4147-A177-3AD203B41FA5}">
                      <a16:colId xmlns:a16="http://schemas.microsoft.com/office/drawing/2014/main" val="1078517207"/>
                    </a:ext>
                  </a:extLst>
                </a:gridCol>
              </a:tblGrid>
              <a:tr h="594262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Type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%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034342506"/>
                  </a:ext>
                </a:extLst>
              </a:tr>
              <a:tr h="5942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One-Time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96.88%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370645214"/>
                  </a:ext>
                </a:extLst>
              </a:tr>
              <a:tr h="5942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Repeat</a:t>
                      </a:r>
                      <a:endParaRPr lang="en-US" sz="1100" kern="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3.12%</a:t>
                      </a:r>
                      <a:endParaRPr lang="en-US" sz="1100" kern="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737150340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A91392B8-7157-C872-A266-F5305228C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1359671"/>
            <a:ext cx="5096586" cy="4601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45313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63803FE-909C-3464-174C-C066419C18A5}"/>
              </a:ext>
            </a:extLst>
          </p:cNvPr>
          <p:cNvSpPr txBox="1"/>
          <p:nvPr/>
        </p:nvSpPr>
        <p:spPr>
          <a:xfrm>
            <a:off x="371061" y="490330"/>
            <a:ext cx="5857461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Task 14: High-Risk Order Identification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57A49D-C0A2-DCFC-2278-A5E23E08DE1C}"/>
              </a:ext>
            </a:extLst>
          </p:cNvPr>
          <p:cNvSpPr txBox="1"/>
          <p:nvPr/>
        </p:nvSpPr>
        <p:spPr>
          <a:xfrm>
            <a:off x="371061" y="1825621"/>
            <a:ext cx="25709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effectLst/>
                <a:ea typeface="Times New Roman" panose="02020603050405020304" pitchFamily="18" charset="0"/>
              </a:rPr>
              <a:t>Which orders have long delivery times and low review scores?</a:t>
            </a: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94D141-FD59-EFC6-C29F-B1CB0D1B4015}"/>
              </a:ext>
            </a:extLst>
          </p:cNvPr>
          <p:cNvSpPr txBox="1"/>
          <p:nvPr/>
        </p:nvSpPr>
        <p:spPr>
          <a:xfrm>
            <a:off x="371061" y="1359671"/>
            <a:ext cx="2160104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Question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F57EF-8097-3C70-8F9D-71C17E98BC4C}"/>
              </a:ext>
            </a:extLst>
          </p:cNvPr>
          <p:cNvSpPr txBox="1"/>
          <p:nvPr/>
        </p:nvSpPr>
        <p:spPr>
          <a:xfrm>
            <a:off x="3021497" y="1856398"/>
            <a:ext cx="320702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Identified those orders which are more than 20 delivery days and review score less 2 by joining fact_orders and </a:t>
            </a:r>
            <a:r>
              <a:rPr lang="en-US" sz="1400" dirty="0" err="1"/>
              <a:t>fact_reviews</a:t>
            </a:r>
            <a:r>
              <a:rPr lang="en-US" sz="1400" dirty="0"/>
              <a:t> table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6D6E1CE-F857-ED86-72C3-8D25155A1DB5}"/>
              </a:ext>
            </a:extLst>
          </p:cNvPr>
          <p:cNvSpPr txBox="1"/>
          <p:nvPr/>
        </p:nvSpPr>
        <p:spPr>
          <a:xfrm>
            <a:off x="3087757" y="1328488"/>
            <a:ext cx="3140765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SQL Logic Used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95A476-E680-CF98-367D-9C4A78D629A0}"/>
              </a:ext>
            </a:extLst>
          </p:cNvPr>
          <p:cNvSpPr txBox="1"/>
          <p:nvPr/>
        </p:nvSpPr>
        <p:spPr>
          <a:xfrm>
            <a:off x="371061" y="3061252"/>
            <a:ext cx="2570922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Key Results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7BD6464-CB04-5DB4-A7B9-29C9257BBE2F}"/>
              </a:ext>
            </a:extLst>
          </p:cNvPr>
          <p:cNvSpPr txBox="1"/>
          <p:nvPr/>
        </p:nvSpPr>
        <p:spPr>
          <a:xfrm>
            <a:off x="3299791" y="3429000"/>
            <a:ext cx="2928731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Several orders experienced delivery times exceeding 150–200 days and received poor customer ratings, highlighting critical service failures that require investigation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C84FC85-E741-2835-0408-E0E55DC15AFB}"/>
              </a:ext>
            </a:extLst>
          </p:cNvPr>
          <p:cNvSpPr txBox="1"/>
          <p:nvPr/>
        </p:nvSpPr>
        <p:spPr>
          <a:xfrm>
            <a:off x="3299791" y="3061252"/>
            <a:ext cx="2928731" cy="367748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Business Insight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1FCEC21-C77E-369F-CF64-9720F386FA6A}"/>
              </a:ext>
            </a:extLst>
          </p:cNvPr>
          <p:cNvSpPr txBox="1"/>
          <p:nvPr/>
        </p:nvSpPr>
        <p:spPr>
          <a:xfrm>
            <a:off x="6904384" y="649357"/>
            <a:ext cx="1258956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>
                    <a:lumMod val="95000"/>
                  </a:schemeClr>
                </a:solidFill>
              </a:rPr>
              <a:t>Screenshot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79380C8-4B62-8B59-4DC5-1E1CD66278C2}"/>
              </a:ext>
            </a:extLst>
          </p:cNvPr>
          <p:cNvSpPr txBox="1"/>
          <p:nvPr/>
        </p:nvSpPr>
        <p:spPr>
          <a:xfrm>
            <a:off x="251791" y="3749725"/>
            <a:ext cx="2690192" cy="8389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delivery_days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&gt; 20</a:t>
            </a: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</a:pPr>
            <a:r>
              <a:rPr lang="en-US" sz="1800" kern="1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review_score</a:t>
            </a:r>
            <a:r>
              <a:rPr lang="en-US" sz="18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&lt;= 2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13401541-DCDF-B95C-9BCE-2870ADB631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4384" y="1359670"/>
            <a:ext cx="5041777" cy="4617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940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32C30-E518-F6C2-8532-B4978F3F17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768C526-69A8-6736-69A2-2247978AD4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227" y="757330"/>
            <a:ext cx="8154538" cy="5259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544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B3A060-0C3D-6882-D128-8A4C3ED08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Customer &amp; Geography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FE55BF-7CCB-9FBA-313C-D482B242FC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2744" y="797087"/>
            <a:ext cx="8135485" cy="524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519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F7E1F-F7CE-0154-E9AF-E3E4BAAC0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and Product Performance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202EFD8-B690-400E-8B6F-FB35E2B13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323" y="819866"/>
            <a:ext cx="8078327" cy="530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5014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8C69AF-434B-DC09-5D29-C8A01B42FA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Operations and Customer Satisfaction Dashboard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F3A14E-DFD9-3C18-7E66-2079B7191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774" y="776383"/>
            <a:ext cx="8116433" cy="5346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982516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DA235-7F3A-05BF-C465-3043EE9903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100" dirty="0">
                <a:solidFill>
                  <a:schemeClr val="bg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Task 15 – Executive Performance Summary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0442B-4C23-F829-3660-21C343D7203D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600" b="1" dirty="0"/>
              <a:t>Dataset Overview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99,441 Orders | 99,441 Customers | 32,951 Products | 3,095 Sellers</a:t>
            </a:r>
          </a:p>
          <a:p>
            <a:r>
              <a:rPr lang="en-US" sz="1600" b="1" dirty="0"/>
              <a:t>Operational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Delivered Orders: </a:t>
            </a:r>
            <a:r>
              <a:rPr lang="en-US" sz="1600" b="1" dirty="0"/>
              <a:t>97.02%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Cancelled Orders: </a:t>
            </a:r>
            <a:r>
              <a:rPr lang="en-US" sz="1600" b="1" dirty="0"/>
              <a:t>0.63%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Average Delivery Time: </a:t>
            </a:r>
            <a:r>
              <a:rPr lang="en-US" sz="1600" b="1" dirty="0"/>
              <a:t>12.5 Days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On-Time Delivery Rate: </a:t>
            </a:r>
            <a:r>
              <a:rPr lang="en-US" sz="1600" b="1" dirty="0"/>
              <a:t>93.23%</a:t>
            </a:r>
            <a:endParaRPr lang="en-US" sz="1600" dirty="0"/>
          </a:p>
          <a:p>
            <a:r>
              <a:rPr lang="en-US" sz="1600" b="1" dirty="0"/>
              <a:t>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Average Review Score: </a:t>
            </a:r>
            <a:r>
              <a:rPr lang="en-US" sz="1600" b="1" dirty="0"/>
              <a:t>4.09 / 5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Majority of reviews were </a:t>
            </a:r>
            <a:r>
              <a:rPr lang="en-US" sz="1600" b="1" dirty="0"/>
              <a:t>4-star and 5-star</a:t>
            </a:r>
            <a:endParaRPr lang="en-US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Customer satisfaction declined as delivery time increased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D2A03C-D50A-BF3A-C2DA-0CF0AB3398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1400" b="1" dirty="0"/>
              <a:t>Revenue &amp; Product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Average Order Value: </a:t>
            </a:r>
            <a:r>
              <a:rPr lang="en-US" sz="1300" b="1" dirty="0"/>
              <a:t>160.99</a:t>
            </a:r>
            <a:endParaRPr lang="en-US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Top Revenue Categories: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Health &amp; Beauty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Watches &amp; Gifts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300" dirty="0"/>
              <a:t>Bed Bath &amp;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Highest AOV Category: </a:t>
            </a:r>
            <a:r>
              <a:rPr lang="en-US" sz="1300" b="1" dirty="0"/>
              <a:t>Computers</a:t>
            </a:r>
            <a:endParaRPr lang="en-US" sz="1300" dirty="0"/>
          </a:p>
          <a:p>
            <a:r>
              <a:rPr lang="en-US" sz="1400" b="1" dirty="0"/>
              <a:t>Customer &amp; Market Insights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São Paulo generated </a:t>
            </a:r>
            <a:r>
              <a:rPr lang="en-US" sz="1300" b="1" dirty="0"/>
              <a:t>41,746 orders</a:t>
            </a:r>
            <a:r>
              <a:rPr lang="en-US" sz="1300" dirty="0"/>
              <a:t> (~42% of total orders)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Customer Retention Rate: </a:t>
            </a:r>
            <a:r>
              <a:rPr lang="en-US" sz="1300" b="1" dirty="0"/>
              <a:t>3.12%</a:t>
            </a:r>
            <a:endParaRPr lang="en-US" sz="13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96.88% of customers were one-time buyers</a:t>
            </a:r>
          </a:p>
          <a:p>
            <a:r>
              <a:rPr lang="en-US" sz="1400" b="1" dirty="0"/>
              <a:t>Key Business Opportunity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Improve customer retention through loyalty programs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300" dirty="0"/>
              <a:t>Investigate delayed deliveries and high-risk orders to enhance customer experience</a:t>
            </a:r>
          </a:p>
        </p:txBody>
      </p:sp>
    </p:spTree>
    <p:extLst>
      <p:ext uri="{BB962C8B-B14F-4D97-AF65-F5344CB8AC3E}">
        <p14:creationId xmlns:p14="http://schemas.microsoft.com/office/powerpoint/2010/main" val="198343145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3E0C19-A48C-4D62-720F-7A30B5723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effectLst/>
                <a:ea typeface="Times New Roman" panose="02020603050405020304" pitchFamily="18" charset="0"/>
              </a:rPr>
              <a:t>Top Key Findings &amp; Strategic Recommendations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E2F5F0-2E54-10C2-3D23-5CADC61C8F8A}"/>
              </a:ext>
            </a:extLst>
          </p:cNvPr>
          <p:cNvSpPr txBox="1"/>
          <p:nvPr/>
        </p:nvSpPr>
        <p:spPr>
          <a:xfrm>
            <a:off x="3843130" y="795130"/>
            <a:ext cx="3684105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Key Insights</a:t>
            </a:r>
          </a:p>
          <a:p>
            <a:r>
              <a:rPr lang="en-US" b="1" dirty="0"/>
              <a:t>Operations &amp; Delivery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99,441 total orders analyzed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97.02% orders successfully delivered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93.23% delivered on or before estimated 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delivery time: 12.5 days</a:t>
            </a:r>
          </a:p>
          <a:p>
            <a:r>
              <a:rPr lang="en-US" b="1" dirty="0"/>
              <a:t>Customer Behavior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São Paulo generated 41,746 orders (~42% of total orders)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Customer retention rate: 3.12%</a:t>
            </a:r>
          </a:p>
          <a:p>
            <a:r>
              <a:rPr lang="en-US" b="1" dirty="0"/>
              <a:t>Revenue &amp; Products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Revenue product: Health &amp; Beauty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Highest AOV Category: Computers</a:t>
            </a:r>
          </a:p>
          <a:p>
            <a:r>
              <a:rPr lang="en-US" b="1" dirty="0"/>
              <a:t>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Average Review Score: 4.09 / 5</a:t>
            </a:r>
          </a:p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30D549A-5FEA-AC38-576D-93FFDD177120}"/>
              </a:ext>
            </a:extLst>
          </p:cNvPr>
          <p:cNvSpPr txBox="1"/>
          <p:nvPr/>
        </p:nvSpPr>
        <p:spPr>
          <a:xfrm>
            <a:off x="7421217" y="795130"/>
            <a:ext cx="435996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Strategic Recommendations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Increase Customer Retention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Improve repeat purchase rate from 3.12% through loyalty programs and personalized campaigns.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Expand High-Performing Categories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Increase inventory and promotions for Health &amp; Beauty, Watches &amp; Gifts, and Bed Bath &amp; Table.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Improve Delivery Performance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Focus on delayed deliveries and high-risk orders to protect customer satisfaction.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Prioritize Key Markets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Allocate marketing and logistics investments toward São Paulo and other high-demand regions.</a:t>
            </a:r>
          </a:p>
          <a:p>
            <a:pPr>
              <a:buFont typeface="+mj-lt"/>
              <a:buAutoNum type="arabicPeriod"/>
            </a:pPr>
            <a:r>
              <a:rPr lang="en-US" sz="1600" dirty="0"/>
              <a:t>Strengthen Operational Monitoring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sz="1600" dirty="0"/>
              <a:t>Track delivery delays, review scores, and seller performance using dashboard KPIs.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3577266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E83F6-F518-D886-6997-F50816C2B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185212-81BB-7553-8EB7-760AE8DFF7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The business demonstrates strong operational performance with 97.02% delivery success, 93.23% on-time delivery, and a 4.09 customer rating. However, customer retention remains a major opportunity, with only 3.12% repeat customers. Future growth can be driven by improving customer loyalty, optimizing delivery performance, and investing in high-performing product categories and regions.</a:t>
            </a:r>
          </a:p>
        </p:txBody>
      </p:sp>
    </p:spTree>
    <p:extLst>
      <p:ext uri="{BB962C8B-B14F-4D97-AF65-F5344CB8AC3E}">
        <p14:creationId xmlns:p14="http://schemas.microsoft.com/office/powerpoint/2010/main" val="3627724136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427</TotalTime>
  <Words>2532</Words>
  <Application>Microsoft Office PowerPoint</Application>
  <PresentationFormat>Widescreen</PresentationFormat>
  <Paragraphs>518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Consolas</vt:lpstr>
      <vt:lpstr>Corbel</vt:lpstr>
      <vt:lpstr>Symbol</vt:lpstr>
      <vt:lpstr>Times New Roman</vt:lpstr>
      <vt:lpstr>Wanted Sans Variable</vt:lpstr>
      <vt:lpstr>Wingdings</vt:lpstr>
      <vt:lpstr>Wingdings 2</vt:lpstr>
      <vt:lpstr>Frame</vt:lpstr>
      <vt:lpstr>E-Commerce Order,  Delivery &amp; Customer  Performance Analysis- Capstone Project</vt:lpstr>
      <vt:lpstr>Project Goal</vt:lpstr>
      <vt:lpstr>Dataset Overview</vt:lpstr>
      <vt:lpstr>Business Problem Statement</vt:lpstr>
      <vt:lpstr>Data Cleaning &amp; Preparation</vt:lpstr>
      <vt:lpstr>PowerPoint Presentation</vt:lpstr>
      <vt:lpstr>PowerPoint Presentation</vt:lpstr>
      <vt:lpstr>Star Schema / Data Warehouse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Executive Dashboard</vt:lpstr>
      <vt:lpstr>Customer &amp; Geography Dashboard</vt:lpstr>
      <vt:lpstr>Revenue and Product Performance Dashboard</vt:lpstr>
      <vt:lpstr>Operations and Customer Satisfaction Dashboard</vt:lpstr>
      <vt:lpstr>Task 15 – Executive Performance Summary</vt:lpstr>
      <vt:lpstr>Top Key Findings &amp; Strategic Recommendations</vt:lpstr>
      <vt:lpstr>Final 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E-Commerce Order,  Delivery &amp; Customer  Performance Analysis- Capstone Project</dc:title>
  <dc:creator>Karthik N</dc:creator>
  <cp:lastModifiedBy>Karthik N</cp:lastModifiedBy>
  <cp:revision>15</cp:revision>
  <dcterms:created xsi:type="dcterms:W3CDTF">2026-06-04T14:00:49Z</dcterms:created>
  <dcterms:modified xsi:type="dcterms:W3CDTF">2026-06-09T06:27:03Z</dcterms:modified>
</cp:coreProperties>
</file>